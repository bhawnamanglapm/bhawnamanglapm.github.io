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EP-08 Internal Ops Workbench</c:v>
                  </c:pt>
                  <c:pt idx="1">
                    <c:v>EP-02 Dispute Inbox &amp; Tracking</c:v>
                  </c:pt>
                  <c:pt idx="2">
                    <c:v>EP-09 Platform Quality &amp; Compliance</c:v>
                  </c:pt>
                  <c:pt idx="3">
                    <c:v>EP-04 Processor Integration</c:v>
                  </c:pt>
                  <c:pt idx="4">
                    <c:v>EP-01 Merchant Access &amp; Onboarding</c:v>
                  </c:pt>
                  <c:pt idx="5">
                    <c:v>EP-03 Evidence Submission</c:v>
                  </c:pt>
                  <c:pt idx="6">
                    <c:v>EP-05 Notifications &amp; Reminders</c:v>
                  </c:pt>
                  <c:pt idx="7">
                    <c:v>EP-06 Settlement Visibility</c:v>
                  </c:pt>
                  <c:pt idx="8">
                    <c:v>EP-07 Reporting &amp; Analytics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84</c:v>
                </c:pt>
                <c:pt idx="2">
                  <c:v>48</c:v>
                </c:pt>
                <c:pt idx="3">
                  <c:v>34</c:v>
                </c:pt>
                <c:pt idx="4">
                  <c:v>18</c:v>
                </c:pt>
                <c:pt idx="5">
                  <c:v>11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3-year NPV 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3-year NPV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&quot;k&quot;;($#,##0&quot;k&quot;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Optimistic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-839</c:v>
                </c:pt>
                <c:pt idx="1">
                  <c:v>149</c:v>
                </c:pt>
                <c:pt idx="2">
                  <c:v>1343</c:v>
                </c:pt>
              </c:numCache>
            </c:numRef>
          </c:val>
        </c:ser>
        <c:dLbls>
          <c:numFmt formatCode="$#,##0&quot;k&quot;;($#,##0&quot;k&quot;)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Base case, 3-year benefits by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3-year benefit ($k)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Released Ops capacity (hard)</c:v>
                  </c:pt>
                  <c:pt idx="1">
                    <c:v>Fewer servicing contacts (hard)</c:v>
                  </c:pt>
                  <c:pt idx="2">
                    <c:v>Retention and lower write-offs (soft)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1421</c:v>
                </c:pt>
                <c:pt idx="1">
                  <c:v>193</c:v>
                </c:pt>
                <c:pt idx="2">
                  <c:v>62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simulation built to show the full Product Owner lifecycle. The deck covers why the product matters, where delivery stands, the investment case, and five decisions leadership needs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missed-deadline loss: 9% of closed disputes are lost on process, not merits. The win-rate disagreement is why a single outcome definition (CR-05) is on the decision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dispute through both columns. The biggest changes are deadline visibility, guided evidence and redaction on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Amex already runs an online disputes tool. The hub is positioned as network-agnostic, and it differentiates through prevention and explainable AI rather than the portal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protected through change control. Everything in the amber box has a home on the roadmap or a recorded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sprints hit plan. The remaining work holds the riskiest capabilities: evidence submission, processor integration and the three unstarted epics.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a negative conservative case makes the model credible. It also points leadership at the two assumptions that matter: adoption and how released capacity is treated.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benefits are counted only at the cashable share. Soft benefits are confidence-discounted. Merchant value strengthens the adoption story but stays out of the provider NPV.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Earlier drafts showed steady-state targets as end-2027 goals. This version separates the realistic end-2027 checkpoint from the steady-state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Merchant counts are cumulative. Waves expand on evidence, not on the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R-04 is the swing factor for the business case. R-02 and R-03 are control risks with owners and mitigations already in the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one contingency day is left. Any further scope has to be traded against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dependency is under the delivery team’s control. Leadership help is requested on both in the recommendation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 from earlier drafts: the pilot ends 5 March, and the exit review that decides Wave 1 is 11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Horizons match wireframes S09 to S13 and the roadmap workbook. The point is processing today, optimization next, prevention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match the Change Log, RAID Log and Engagement Plan governance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decisions, not a thank-you. Offer the supporting documents if leadership wants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4754880" cy="475488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222B63"/>
          </a:solidFill>
          <a:ln w="12700">
            <a:solidFill>
              <a:srgbClr val="222B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PROGRAM EXECUTIVE REVIEW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Payment Operations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Dispute Hub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business case, delivery status, and the decisions leadership needs to make now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Bhawna, Product Owner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DOCUMENTS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v1.2 · Roadmap v1.1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September 2026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GO-LIVE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December 2026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project: a Product Owner portfolio exercise. Not an actual client system; all figures are illustrative.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run on email, deadlines get missed, and no one trusts the numbers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 · The problem, the market and the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merchant response rate today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95% · KPI-03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6704" y="17373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5304" y="1920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2697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closed disputes lost only because the deadline passed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429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3% · KPI-04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1920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min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2697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Ops handling time per dispute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3429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25 min · KPI-05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42832" y="173736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71432" y="192024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2697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evidence still arrives by email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3429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70% via portal · KPI-06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06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the numbers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7200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sit unmanaged in email attachments: an active PCI DSS exposure (R-02)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Dispute Ops calculate win rate differently: 40% vs 62.5% on the same 100 disputes (I-05)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can't see how disputes affect their payouts, so they contact servicing: 14 settlement queries per 100 merchants a month (KPI-07)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self-service portal replaces the email-and-spreadsheet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 · The problem, the market and the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portal where merchants track disputes, get deadline reminders and submit evidence online, so they stop losing disputes to missed deadlines and Dispute Ops stops processing everything by email.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21488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DISPUTE HUB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from Ops, sometimes missed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743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appears in the inbox with its due date; reminders at 5 and 2 days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198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Understand: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reason code or call servicing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41985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 with the evidence that usually wins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965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evidence: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files and email them to Ops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0965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files; card numbers are redacted automatically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731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Respond: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re-keys evidence into the processor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47731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 one step, or accept with a clear warning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4982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Ops by email or phone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544982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'last synced' time always visible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portals are table stakes; our edge is prevention and explainable 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discovery found, and how the Dispute Hub positions itself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 · The problem, the market and the solution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already offers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50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243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Disputes tool: see open and urgent disputes, upload documents, respond online, email alerts, reply-by dates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826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57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list showing days left to defend and the latest event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15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897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Disputes builds evidence packets and submits them before the deadline if the merchant does nothing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148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4223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 accept or contest disputes with typed evidence, plus webhook updates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Dispute Hub differentiates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45352" y="22402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STRENGTHS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6700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redacted on upload, with quarantine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debits and reversals linked to disputes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outcome definition for Finance and Ops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Ops workbench and feed-health alerts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45352" y="3977640"/>
            <a:ext cx="5394960" cy="1993392"/>
          </a:xfrm>
          <a:prstGeom prst="roundRect">
            <a:avLst>
              <a:gd name="adj" fmla="val 367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MVP (PROPOSED)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73952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3952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44622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ratio health, pre-dispute alerts, AI evidence copilot with human review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73952" y="5212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8E97C9"/>
          </a:solidFill>
          <a:ln w="12700">
            <a:solidFill>
              <a:srgbClr val="8E97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3952" y="5212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5193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fraud automation, root-cause insights, AI agent purchase readiness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Discovery &amp; Decision Log v2.0 (DSC-06 to DSC-15; SRC-01 to SRC-20), accessed 11 Sep 2026. Positioning is for the simulation, not a claim about any provider’s plans.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 · The problem, the market and the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9480" y="1600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1600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1691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Dec 2026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go-live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34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MVP epics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EP-01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Access &amp; Onboarding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2461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EP-02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Inbox &amp; Tracking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2461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EP-03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0" y="3246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81304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3813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EP-04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Integration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8130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97680" y="381304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3813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EP-05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Reminders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8130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381304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3813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EP-06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Visibility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89920" y="38130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379976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4379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EP-07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291840" y="43799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97680" y="4379976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4379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EP-08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Ops Workbench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040880" y="43799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379976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0" y="4379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EP-09 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Quality &amp; Compliance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789920" y="43799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" y="52303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MVP scope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5321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 management in the hub (a read-only reference is pending CR-01) · Spanish portal · SMS reminders · Marketplace sub-merchants · Reason code admin screen · Nightly data files · Automated dispute decisions · Prevention and AI capabilities (roadmap RM-25 to RM-30)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of 10: 32% of MVP points complete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10 September 2026 · 80 of 252 points · Sprints 1–3 delivered 69 of 69 planned points · 2 items blocked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 · Business case and delivery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828800"/>
            <a:ext cx="3779215" cy="4434840"/>
          </a:xfrm>
          <a:prstGeom prst="roundRect">
            <a:avLst>
              <a:gd name="adj" fmla="val 19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01168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46888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US-019 blocked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761488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Status-update webhooks blocked by a processor sandbox issue (I-01)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340156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US-034 blocked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694176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tracking waits for data governance approval (I-06)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33425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Submission at 11%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626864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remaining epic (45 pts), most exposed to the December go-live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5266944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epics not started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5559552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Settlement Visibility, Reporting &amp; Analytics: 52 pts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 is positive, but adoption and Ops capacity decide the outcome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 · Business case and delivery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6080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188720"/>
                <a:gridCol w="130759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NPV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($839k)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ROI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(59%)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after go-live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3 yrs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yrs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yrs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net cash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($13k)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$477k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3977640"/>
            <a:ext cx="2712568" cy="2103120"/>
          </a:xfrm>
          <a:prstGeom prst="roundRect">
            <a:avLst>
              <a:gd name="adj" fmla="val 3478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636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$612k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4709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investment: build team, contingency, penetration test and accessibility audit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930488" y="3977640"/>
            <a:ext cx="2712568" cy="2103120"/>
          </a:xfrm>
          <a:prstGeom prst="roundRect">
            <a:avLst>
              <a:gd name="adj" fmla="val 3478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59088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case loses money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159088" y="4709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and redeployed rather than cashable capacity push NPV to ($839k). That is why the pilot gates and LR-17 matter.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COMES FROM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 of base-case benefit is released Ops capacity: confirm whether it is cashable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 · Business case and delivery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583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645920"/>
            <a:ext cx="4144975" cy="841248"/>
          </a:xfrm>
          <a:prstGeom prst="roundRect">
            <a:avLst>
              <a:gd name="adj" fmla="val 8696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737360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 vs $1.33M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05740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benefits vs three-year costs (base case)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2578608"/>
            <a:ext cx="4144975" cy="841248"/>
          </a:xfrm>
          <a:prstGeom prst="roundRect">
            <a:avLst>
              <a:gd name="adj" fmla="val 8696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670048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$771k a year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990088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value at Year 3: money recovered or kept by merchants. Excluded from NPV.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3511296"/>
            <a:ext cx="4144975" cy="841248"/>
          </a:xfrm>
          <a:prstGeom prst="roundRect">
            <a:avLst>
              <a:gd name="adj" fmla="val 8696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3602736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by 30 Oct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3922776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 to confirm cashable vs redeployed capacity (LR-17)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value is created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074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visibility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5074920"/>
            <a:ext cx="338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2807208" y="5074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07208" y="5074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on-time responses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27448" y="5074920"/>
            <a:ext cx="338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065776" y="5074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65776" y="5074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 lost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86016" y="5074920"/>
            <a:ext cx="338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7324344" y="5074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24344" y="5074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Ops work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244584" y="5074920"/>
            <a:ext cx="338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582912" y="50749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82912" y="5074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economics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metrics: end-2027 checkpoint and steady-state targets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values follow the quarterly benefits path in the Post-Launch Plan, which rolls up to the base business case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 · Business case and delivery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645920"/>
                <a:gridCol w="2651760"/>
                <a:gridCol w="14904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Steady-state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response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by end-2028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Missed-deadline loss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by end-2028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handling time per dispute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 by end-2028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evidence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by 2029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contacts per 100 merchants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 end-2028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value recovery (North Star, pending CR-05)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by end-2028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leading indicator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468112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513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exposure incidents · KPI-16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46704" y="5468112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9584" y="5513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min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9584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sync latency, 95th percentile · KPI-12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768" y="5468112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7648" y="5513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0.5%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reconciliation variance · KPI-15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42832" y="5468112"/>
            <a:ext cx="2615184" cy="777240"/>
          </a:xfrm>
          <a:prstGeom prst="roundRect">
            <a:avLst>
              <a:gd name="adj" fmla="val 9412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5712" y="5513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125712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merchant activation · KPI-08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Pilot-led rollout: each wave starts only when its gates are met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 · Business case and delivery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299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2026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163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teams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821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UAT, hardening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862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on 4 Dec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64592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17830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0299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514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2027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28163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merchants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1821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e-commerce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657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8862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≥ 60%, on-time ≥ 90%, zero card data incidents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64592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17830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0299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514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 2027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8163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merchants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1821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of dispute volume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657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8862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share ≥ 35%, missed-deadline loss ≤ 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164592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17830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0299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514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Jun–Sep 2027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28163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merchants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31821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 of dispute volume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3657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38862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share ≥ 50%, handling time ≤ 30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09760" y="164592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92640" y="17830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202996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0" y="2514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2027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692640" y="28163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24,900 merchants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1821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 of dispute volume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3657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692640" y="38862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intake retired for portal-enabled merchants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expansion checks five gates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5468112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5815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and portal share on target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88920" y="5468112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7180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2971800" y="5815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response trending to target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0" y="5468112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21208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5212080" y="5815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critical or high findings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269480" y="5468112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45236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7452360" y="5815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support model ready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509760" y="5468112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92640" y="5522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9692640" y="5815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 and reconciliation live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open risks need executive visibility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1109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C0433D"/>
          </a:solidFill>
          <a:ln w="12700">
            <a:solidFill>
              <a:srgbClr val="C04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11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7373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merchant adoption of the portal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737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10 high-volume merchants; in-portal onboarding; adoption tracking; email retired wave by wave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17373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
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52760" y="17373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High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2549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C0433D"/>
          </a:solidFill>
          <a:ln w="12700">
            <a:solidFill>
              <a:srgbClr val="C04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254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6517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in evidence expand PCI DSS scope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6517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redaction on upload (CR-03); quarantine; InfoSec validation before UAT sign-off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6517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
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652760" y="26517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High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3989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C0433D"/>
          </a:solidFill>
          <a:ln w="12700">
            <a:solidFill>
              <a:srgbClr val="C04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39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5661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sync lag causes missed deadlines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3566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Feed-freshness alerts; 'last synced' timestamp; reminders at 5 and 2 days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35661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
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52760" y="35661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65429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6542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44805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network rule changes before go-live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4480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reason codes and response windows (CR-02)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44805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
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652760" y="44805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Medium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568696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5686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53949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settlement data quality undermines reports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623560" y="53949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rules; exception report; reconciliation before sign-off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601200" y="5394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
</a:t>
            </a:r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Lead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652760" y="539496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Medium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9963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likelihood × impact on a 1–5 scale (RAID Log).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control is working, but schedule contingency is nearly used up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days used by approved changes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6459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pending, of 9 logged (3 approved, 1 rejected, 1 deferred)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6459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rate: 3 approved of 5 decided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42832" y="164592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2571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Jan 2027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125712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go-live if all pending changes are approved as requested (baseline 11 Dec 2026)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decisions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CR-01 · Fraud case scope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full fraud case management out of MVP; add a read-only linked case reference (Option C), with a Phase 2 commitment.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CR-05 · Outcome definitions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Won, Partially won and Lost separately (Option C) and govern one definition before KPI reporting starts.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CR-06 · UAT approach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UAT in parallel with the delayed pen test only where Compliance and InfoSec controls allow; protect the go-live gate.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7607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MVP baseline: treat any late scope as an explicit trade-off against the 11 December 2026 go-live.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vendor dependencies are already committed later than needed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19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items done so far; 14 are critical for the go-live 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03320" y="164592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 · Processor dispute API production access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Payment processor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834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0433D"/>
          </a:solidFill>
          <a:ln w="12700">
            <a:solidFill>
              <a:srgbClr val="C04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16 Oct · committed 23 Oct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64592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D-03 · Penetration test before UAT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InfoSec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2834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0433D"/>
          </a:solidFill>
          <a:ln w="12700">
            <a:solidFill>
              <a:srgbClr val="C04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30 Oct · committed 13 Nov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86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requires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UAT sign-off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46704" y="4251960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9584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Critical and high pen test findings fixed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44768" y="4251960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27648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InfoSec redaction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42832" y="4251960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25712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 test passed at 3× peak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818888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Accessibility sign-off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46704" y="4818888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9584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Dispute Ops and servicing trained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44768" y="4818888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27648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Rollback plan tested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942832" y="4818888"/>
            <a:ext cx="2615184" cy="457200"/>
          </a:xfrm>
          <a:prstGeom prst="roundRect">
            <a:avLst>
              <a:gd name="adj" fmla="val 16000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25712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Hypercare rota and KPI tracking ready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3F7F0"/>
          </a:solidFill>
          <a:ln w="12700">
            <a:solidFill>
              <a:srgbClr val="E3F7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54864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11 Dec 2026 – 22 Jan 2027. </a:t>
            </a:r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is based on evidence, not the date: 10 consecutive business days with no open Sev 1 or Sev 2, sync latency p95 ≤ 5 min, zero card data incidents, runbooks accepted, and support running without the delivery team.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build to general availability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0728655" cy="0"/>
          </a:xfrm>
          <a:prstGeom prst="line">
            <a:avLst/>
          </a:prstGeom>
          <a:noFill/>
          <a:ln w="25400">
            <a:solidFill>
              <a:srgbClr val="8E9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2026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63601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2665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Nov 2026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32665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and UAT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6266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533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 2026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6533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28931" y="259689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7995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Dec 2026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97995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1596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3066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Jan 2027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3066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exit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94261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63325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Mar 2027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663325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exit review, Wave 1 go / no-go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26926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9599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 2027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9599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complete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359591" y="259689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80015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Dec 2027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180015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 complete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– 6 Nov 2026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14016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51176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and UAT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2551176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Nov – 4 Dec 2026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79392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16552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4416552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Dec 2026 – 22 Jan 2027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44768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81928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281928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Jan – 5 Mar 2027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10144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47304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1 and 2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147304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 – 24 Sep 2027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75520" y="42062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12680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10012680" y="4892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Oct – 17 Dec 2027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cards: phases in progress or next. The pilot runs inside hypercare; its exit review on 11 March decides Wave 1.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is the foundation; the destination is dispute prevention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initiatives on Product Roadmap v1.1 · horizons measured from 11 September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8862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initiatives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MVP build, hardening, go-live and hypercare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53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Outcome definitions (CR-05)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838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Analytics tracking plan (I-06)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142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Fraud case reference (pending CR-01)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3566160" cy="3886200"/>
          </a:xfrm>
          <a:prstGeom prst="roundRect">
            <a:avLst>
              <a:gd name="adj" fmla="val 205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initiatives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Pilot, Waves 1 and 2, retire email intake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953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guidance, templates, reason code admin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4838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Spanish portal and fraud case management (Phase 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40873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87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40142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ratio health alerts · RM-28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461772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Pre-dispute alerts and early refunds · RM-25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514807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5148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5074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evidence copilot pilot · RM-26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1828800"/>
            <a:ext cx="3566160" cy="3886200"/>
          </a:xfrm>
          <a:prstGeom prst="roundRect">
            <a:avLst>
              <a:gd name="adj" fmla="val 2051"/>
            </a:avLst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initiatives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General availability, auto-accept rules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2953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Marketplace model, dispute API, premium service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75320" y="355701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3557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34838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fraud evidence automation · RM-27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75320" y="40873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5320" y="4087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40142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insights · RM-29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75320" y="461772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7532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1540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purchase readiness · RM-30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85216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58521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= proposed from the Discovery &amp; Decision Log. Each needs discovery, compliance review and a business case; the AI copilot also needs a model risk review (17 Jun 2027).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 leadership needs to make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· Risks, change control and decisions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Payment Operations &amp; Dispute Hub · Simulation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94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dispute outcome and win-rate definitions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16352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449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28163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fraud case management scope for the MVP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8163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28163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 2026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8953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895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366674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running UAT in parallel with the delayed pen test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66674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3666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517136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7457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745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I-06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920240" y="451713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analytics tracking plan, needed to measure pilot activation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5171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Lead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451713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 2026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367528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59612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596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LR-17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920240" y="53675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treatment of released Ops capacity: cashable or redeployed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53675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53675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 2026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fall due by 1 October; the capacity decision (LR-17) is due 30 October.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Endorse the base case, clear four decisions by 1 October, and the capacity decision by 30 October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128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base-case investment ($149k NPV, 26% ROI, 2.3-year payback), noting the conservative case is negative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35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pilot-led rollout, with its KPI exit gates as go / no-go criteria for each wave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587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CR-05, CR-01, CR-06 and I-06 by 1 October, and LR-17 by 30 October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unblock the two at-risk dependencies: processor production access (D-01) and the InfoSec penetration test (D-03)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40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governance touchpoint: Steering Committee, 24 September 2026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detail: PRD v1.2 · Product Roadmap v1.1 · KPI Definitions v1.1 · Discovery &amp; Decision Log v2.0 · RAID Log · Change Log · RTM · Business Case &amp; GTM · Engagement Plan · Post-Launch Plan · Wireframes v1.1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project: a Product Owner portfolio exercise. Not an actual client system.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 Payment Operations &amp; Dispute Hub: Executive Review</dc:title>
  <dc:subject>PptxGenJS Presentation</dc:subject>
  <dc:creator>Bhawna</dc:creator>
  <cp:lastModifiedBy>Bhawna</cp:lastModifiedBy>
  <cp:revision>1</cp:revision>
  <dcterms:created xsi:type="dcterms:W3CDTF">2026-09-11T18:47:34Z</dcterms:created>
  <dcterms:modified xsi:type="dcterms:W3CDTF">2026-09-11T18:47:34Z</dcterms:modified>
</cp:coreProperties>
</file>